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897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Security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Innovation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Assessment – Part 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Computing Technologies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DFF0"/>
                </a:solidFill>
              </a:rPr>
              <a:t>Academic | Industry | AI-Comparative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743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114800" cy="9144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73152" cy="91440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21792" y="1536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" y="1847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Technical Overview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0848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What is Blockchain &amp; how it works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114800" cy="9144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73152" cy="9144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21792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" y="2944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Enterprise Applications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3182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Real-world use cases across industries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4114800" cy="9144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73152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21792" y="3730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Ethical &amp; Security Concerns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4279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Risks, vulnerabilities &amp; societal impact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463040"/>
            <a:ext cx="4114800" cy="9144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846320" y="1463040"/>
            <a:ext cx="73152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010912" y="1536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10912" y="1847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Regulation &amp; Governance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10912" y="20848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MiCA, GDPR, NIST &amp; FCA frameworks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560320"/>
            <a:ext cx="4114800" cy="9144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846320" y="2560320"/>
            <a:ext cx="73152" cy="9144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010912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10912" y="2944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AI-Generated Response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10912" y="3182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ChatGPT's take on the same question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657600"/>
            <a:ext cx="4114800" cy="9144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846320" y="3657600"/>
            <a:ext cx="73152" cy="91440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010912" y="3730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010912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Critical Comparison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10912" y="4279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Human vs AI – depth, accuracy &amp; nuance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 1 — TECHNICAL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Blockchain?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743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73152" cy="100584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</a:rPr>
              <a:t>A distributed, decentralised ledger that records transactions across a peer-to-peer network using cryptographic hashing. Each block contains data, a timestamp, and the previous block's hash — forming a tamper-evident chain. No central authority controls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920240" cy="118872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 Decentralised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9067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FF0"/>
                </a:solidFill>
              </a:rPr>
              <a:t>No single point of control or failure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42032" y="2651760"/>
            <a:ext cx="1920240" cy="118872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542032" y="2697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  Immutable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309067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FF0"/>
                </a:solidFill>
              </a:rPr>
              <a:t>Records locked once confirmed on-chain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2651760"/>
            <a:ext cx="1920240" cy="118872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626864" y="2697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👁  Transparent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26864" y="309067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FF0"/>
                </a:solidFill>
              </a:rPr>
              <a:t>All participants can verify transactions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11696" y="2651760"/>
            <a:ext cx="1920240" cy="118872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711696" y="2697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🤝  Consensus-driven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11696" y="309067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FF0"/>
                </a:solidFill>
              </a:rPr>
              <a:t>Agreement required before any block is added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Types of Blockchain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15968"/>
            <a:ext cx="2651760" cy="64008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8640" y="435254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</a:rPr>
              <a:t>Public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Open to all — Bitcoin, Ethereum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4315968"/>
            <a:ext cx="2651760" cy="64008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383280" y="435254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</a:rPr>
              <a:t>Private / Permissioned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Restricted — Hyperledger Fabric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4315968"/>
            <a:ext cx="2651760" cy="64008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217920" y="435254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</a:rPr>
              <a:t>Consortium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Group-controlled — R3 Corda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Nakamoto (2008); Tapscott &amp; Tapscott (2016)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 1 — ENTERPRISE APPLICATIONS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Enterprise Use Cases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743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114800" cy="132588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114800" cy="329184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66928" y="146304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Finance &amp; Banking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828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JPMorgan — Onyx Platform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Blockchain-based wholesale payment settlement. Cross-border transfers reduced from days to seconds. Processes $1B+ in daily transactions.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4114800" cy="132588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4114800" cy="329184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956048" y="146304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Supply Chain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56048" y="1828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Walmart — IBM Food Trust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56048" y="20848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Hyperledger-based food traceability. Mango tracking time reduced from 7 days to 2.2 seconds. Improves recall safety response.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4114800" cy="132588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4114800" cy="329184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66928" y="297180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Healthcare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337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MedRec — MIT / Beth Israel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359359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Blockchain-backed medical record management. Patients control cross-provider data sharing without centralised storage.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971800"/>
            <a:ext cx="4114800" cy="132588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846320" y="2971800"/>
            <a:ext cx="4114800" cy="32918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956048" y="297180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Government &amp; Identity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6048" y="3337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Estonia — e-Residency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6048" y="359359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Blockchain-backed digital identity for 100,000+ global residents. Enables digital business, tax, and legal services remotely.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Sources: IBM Institute for Business Value (2020); Casino et al. (2019) — Telematics and Informatics, Elsevier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 1 — ETHICAL CONCERNS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Challenges of Blockchain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743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114800" cy="14173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73152" cy="1417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Environmental Impact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Bitcoin's Proof of Work consumes ~150 TWh/year — comparable to Argentina's entire electricity use. Cambridge Bitcoin Electricity Consumption Index (CBECI) tracks this in real-time.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4114800" cy="14173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73152" cy="1417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Financial Exclusion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874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Despite claims of democratisation, access requires internet connectivity and devices. Unbanked populations in low-income countries remain excluded without infrastructure investment.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114800" cy="14173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73152" cy="141732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008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Smart Contract Bias &amp; Irreversibility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Code reflects its creator's assumptions. Flawed smart contracts cannot easily be corrected once deployed. Bugs can have permanent, irreversible financial consequences.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063240"/>
            <a:ext cx="4114800" cy="14173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73152" cy="14173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02920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Illicit Use &amp; Anonymity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474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Crypto's pseudonymous nature has enabled ransomware (e.g. REvil group) and money laundering. UN estimates $800M in crypto was laundered via privacy coins in 2023.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Sources: Cambridge Centre for Alternative Finance; Atzori (2017) — Journal of Internet and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 1 — SECURITY CONCERNS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743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74980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73152" cy="7498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315200" y="1627632"/>
            <a:ext cx="1097280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315200" y="16276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 RISK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5179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51% Attack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81051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If one entity controls &gt;50% of network hash power, they can reverse transactions and double-spend. Ethereum Classic suffered this in 2020.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74980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73152" cy="7498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315200" y="2496312"/>
            <a:ext cx="1097280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315200" y="2496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 RISK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3865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Smart Contract Exploits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67919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The DAO Hack (2016): $60M ETH stolen via a reentrancy bug. Immutability made the standard bug-fix process impossible.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74980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73152" cy="7498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315200" y="3364992"/>
            <a:ext cx="1097280" cy="2560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315200" y="3364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 RISK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2552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Private Key Loss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54787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 password reset on blockchain. Estimated 3.7M BTC permanently lost due to lost private keys (Chainalysis, 2020).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8229600" cy="74980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73152" cy="7498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315200" y="4233672"/>
            <a:ext cx="1097280" cy="2560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315200" y="4233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 RISK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1239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Oracle Problem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41655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Blockchain cannot natively verify real-world data. Corrupted external data inputs ('oracles') corrupt contract outputs.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Sources: Chainalysis (2020); NIST NISTIR 8202 (2018)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 1 — REGULATION &amp; GOVERNANCE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Governance Frameworks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743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114800" cy="14173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114800" cy="292608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66928" y="1463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EU MiCA Regulation (2023)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03320" y="1463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</a:rPr>
              <a:t>Europe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First comprehensive EU crypto regulatory framework. Covers crypto-asset issuers and service providers. Requires licensing, transparency disclosures, and consumer protections.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4114800" cy="14173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4114800" cy="292608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956048" y="1463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UK FCA Guidelines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2440" y="1463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</a:rPr>
              <a:t>United Kingdom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18288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Crypto firms must register with the FCA. Issued guidance on stablecoin oversight. Stricter enforcement since 2022 financial promotions regime.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4114800" cy="14173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4114800" cy="292608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66928" y="3063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NIST Blockchain Framework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</a:rPr>
              <a:t>United States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429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NISTIR 8202 defines technical security standards for enterprise blockchain. Covers consensus, architecture, and smart contract security.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063240"/>
            <a:ext cx="4114800" cy="14173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846320" y="3063240"/>
            <a:ext cx="4114800" cy="2926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956048" y="3063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GDPR vs Blockchain Conflict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92440" y="3063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</a:rPr>
              <a:t>EU / Global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3429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Immutability directly conflicts with Article 17 GDPR 'right to be forgotten'. No resolved legal standard yet — active regulatory challenge.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Sources: European Parliament MiCA (2023); FCA Crypto Guidance (2022); NIST NISTIR 8202 (2018)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 1 — REFERENCES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Industry Sources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743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Nakamoto, S. (2008) Bitcoin: A Peer-to-Peer Electronic Cash System.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Tapscott, D. &amp; Tapscott, A. (2016) Blockchain Revolution. Penguin.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Casino, F. et al. (2019) A systematic literature review of blockchain-based applications. Telematics and Informatics, Elsevier.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Atzori, M. (2017) Blockchain technology and decentralized governance. Journal of Internet and Technology.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NIST (2018) Blockchain Technology Overview. NISTIR 8202.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European Parliament (2023) Markets in Crypto-Assets Regulation (MiCA).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Cambridge Centre for Alternative Finance — Cambridge Bitcoin Electricity Consumption Index (CBECI).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IBM Institute for Business Value (2020) Blockchain for supply chain transparency.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2E6A8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 2 — AI-GENERATED RESPONSE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Response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7432"/>
          </a:xfrm>
          <a:prstGeom prst="rect">
            <a:avLst/>
          </a:prstGeom>
          <a:solidFill>
            <a:srgbClr val="2E6A8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621792"/>
          </a:xfrm>
          <a:prstGeom prst="rect">
            <a:avLst/>
          </a:prstGeom>
          <a:solidFill>
            <a:srgbClr val="0D22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B3D4"/>
                </a:solidFill>
              </a:rPr>
              <a:t>PROMPT GIVEN TO AI TOOL (ChatGPT / Claude):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C4D8"/>
                </a:solidFill>
              </a:rPr>
              <a:t>"Critically evaluate Blockchain technology, covering technical overview, enterprise applications, ethical and security concerns, and regulatory frameworks."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0D22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54864" cy="457200"/>
          </a:xfrm>
          <a:prstGeom prst="rect">
            <a:avLst/>
          </a:prstGeom>
          <a:solidFill>
            <a:srgbClr val="2E6A8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21792" y="22494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B3D4"/>
                </a:solidFill>
              </a:rPr>
              <a:t>Definition: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2249424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</a:rPr>
              <a:t>Defined as a distributed ledger with decentralisation, immutability, transparency, and consensus mechanisms. Accurately described PoW vs PoS.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24912"/>
            <a:ext cx="8229600" cy="457200"/>
          </a:xfrm>
          <a:prstGeom prst="rect">
            <a:avLst/>
          </a:prstGeom>
          <a:solidFill>
            <a:srgbClr val="0D22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57200" y="2724912"/>
            <a:ext cx="54864" cy="457200"/>
          </a:xfrm>
          <a:prstGeom prst="rect">
            <a:avLst/>
          </a:prstGeom>
          <a:solidFill>
            <a:srgbClr val="2E6A8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21792" y="27797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B3D4"/>
                </a:solidFill>
              </a:rPr>
              <a:t>Applications: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277977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</a:rPr>
              <a:t>Listed supply chain, finance, healthcare, and smart contracts. Named Ethereum and Bitcoin as examples. No specific company case studies or data.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8229600" cy="457200"/>
          </a:xfrm>
          <a:prstGeom prst="rect">
            <a:avLst/>
          </a:prstGeom>
          <a:solidFill>
            <a:srgbClr val="0D22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54864" cy="457200"/>
          </a:xfrm>
          <a:prstGeom prst="rect">
            <a:avLst/>
          </a:prstGeom>
          <a:solidFill>
            <a:srgbClr val="2E6A8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21792" y="33101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B3D4"/>
                </a:solidFill>
              </a:rPr>
              <a:t>Ethical concerns: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331012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</a:rPr>
              <a:t>Mentioned energy consumption and anonymity risks briefly. Did not reference CBECI data or quantify impact. No reference to smart contract bias.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85616"/>
            <a:ext cx="8229600" cy="457200"/>
          </a:xfrm>
          <a:prstGeom prst="rect">
            <a:avLst/>
          </a:prstGeom>
          <a:solidFill>
            <a:srgbClr val="0D22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57200" y="3785616"/>
            <a:ext cx="54864" cy="457200"/>
          </a:xfrm>
          <a:prstGeom prst="rect">
            <a:avLst/>
          </a:prstGeom>
          <a:solidFill>
            <a:srgbClr val="2E6A8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21792" y="3840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B3D4"/>
                </a:solidFill>
              </a:rPr>
              <a:t>Regulation: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83080" y="384048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</a:rPr>
              <a:t>Referenced GDPR conflict and general regulatory landscape. Did not cite MiCA, FCA guidelines, or NIST framework specifically.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solidFill>
            <a:srgbClr val="0D22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57200" y="4315968"/>
            <a:ext cx="54864" cy="4572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21792" y="4370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B3D4"/>
                </a:solidFill>
              </a:rPr>
              <a:t>Sources cited: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83080" y="437083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</a:rPr>
              <a:t>NONE. The AI response contained no academic citations, no publication dates, and no verifiable references to external authority.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 3 — CRITICAL 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Research vs AI-Generated Response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743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1463040"/>
            <a:ext cx="2743200" cy="347472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65176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My Research-Based Response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463040"/>
            <a:ext cx="3108960" cy="34747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577840" y="1463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AI-Generated Response (ChatGPT)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2103120" cy="420624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651760" y="1920240"/>
            <a:ext cx="2743200" cy="420624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577840" y="1920240"/>
            <a:ext cx="3108960" cy="420624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4864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Sources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B6C"/>
                </a:solidFill>
              </a:rPr>
              <a:t>6–8 peer-reviewed &amp; industry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None cited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95728"/>
            <a:ext cx="2103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651760" y="2395728"/>
            <a:ext cx="27432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577840" y="2395728"/>
            <a:ext cx="31089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4864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Depth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B6C"/>
                </a:solidFill>
              </a:rPr>
              <a:t>DAO hack, 51% attack, GDPR conflict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Surface-level overview only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871216"/>
            <a:ext cx="2103120" cy="420624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651760" y="2871216"/>
            <a:ext cx="2743200" cy="420624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577840" y="2871216"/>
            <a:ext cx="3108960" cy="420624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48640" y="2944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2944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B6C"/>
                </a:solidFill>
              </a:rPr>
              <a:t>Verified against known publications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Generally accurate but unverifiable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346704"/>
            <a:ext cx="2103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651760" y="3346704"/>
            <a:ext cx="27432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577840" y="3346704"/>
            <a:ext cx="31089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48640" y="3419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Nuance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3419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B6C"/>
                </a:solidFill>
              </a:rPr>
              <a:t>Legal tension, failure cases included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0" y="3419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Promotional tone, limited critique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822192"/>
            <a:ext cx="2103120" cy="420624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651760" y="3822192"/>
            <a:ext cx="2743200" cy="420624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5577840" y="3822192"/>
            <a:ext cx="3108960" cy="420624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548640" y="38953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Hallucination risk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0" y="38953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B6C"/>
                </a:solidFill>
              </a:rPr>
              <a:t>None — all claims verifiable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69280" y="3895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Low here, but real risk in complex queries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297680"/>
            <a:ext cx="2103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2651760" y="4297680"/>
            <a:ext cx="27432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5577840" y="4297680"/>
            <a:ext cx="31089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548640" y="4370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Professional fit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43200" y="4370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B6C"/>
                </a:solidFill>
              </a:rPr>
              <a:t>Suitable for academic submission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69280" y="4370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Unsuitable without verification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 3 — REFLECTION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Professional Computing: Key Reflections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743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160520" cy="310896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160520" cy="36576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Where AI adds value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794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Rapid first-draft 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Structuring ideas and organising content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Broad topic coverage and starting-point research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Accessible language and clear formatting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463040"/>
            <a:ext cx="4160520" cy="310896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892040" y="1463040"/>
            <a:ext cx="4160520" cy="3657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98348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Where AI falls short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920240"/>
            <a:ext cx="3794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No verifiable citations or sources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Shallow analysis — misses legal and ethical nuance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No acknowledgement of real-world failures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Risk of hallucination in complex or technical queries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Conclusion: AI is a powerful drafting tool, not a research authority. Human critical thinking + AI efficiency = optimal professional outcome.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DFF0"/>
                </a:solidFill>
              </a:rPr>
              <a:t>Blockchain is transformative but not risk-free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DFF0"/>
                </a:solidFill>
              </a:rPr>
              <a:t>Enterprise adoption is real — and growing fast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DFF0"/>
                </a:solidFill>
              </a:rPr>
              <a:t>Ethical &amp; security risks require active governance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DFF0"/>
                </a:solidFill>
              </a:rPr>
              <a:t>Regulation is catching up but gaps remain (GDPR)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DFF0"/>
                </a:solidFill>
              </a:rPr>
              <a:t>AI is a useful tool, not a replacement for critical research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1371600"/>
            <a:ext cx="2377440" cy="329184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92240" y="1508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Sources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Used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78040" y="2011680"/>
            <a:ext cx="822960" cy="82296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17804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92240" y="29077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</a:rPr>
              <a:t>Academic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</a:rPr>
              <a:t>Industry Sources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78040" y="3383280"/>
            <a:ext cx="822960" cy="82296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178040" y="3383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92240" y="42793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</a:rPr>
              <a:t>Part Analysis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</a:rPr>
              <a:t>Parts 1, 2 &amp;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FF0"/>
                </a:solidFill>
              </a:rPr>
              <a:t>End of Module Assessment — Blockchain Technology | Ethics, Security &amp; Enterprise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1382</Words>
  <Application>Microsoft Office PowerPoint</Application>
  <PresentationFormat>On-screen Show (16:9)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Blockchain: Ethics, Security &amp; Enterprise</dc:title>
  <dc:subject>PptxGenJS Presentation</dc:subject>
  <dc:creator>PptxGenJS</dc:creator>
  <cp:lastModifiedBy>Alawabdi, Sali</cp:lastModifiedBy>
  <cp:revision>1</cp:revision>
  <dcterms:created xsi:type="dcterms:W3CDTF">2026-05-24T22:09:03Z</dcterms:created>
  <dcterms:modified xsi:type="dcterms:W3CDTF">2026-05-24T22:11:34Z</dcterms:modified>
</cp:coreProperties>
</file>